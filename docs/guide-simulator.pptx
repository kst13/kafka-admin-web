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7C8C"/>
                </a:solidFill>
                <a:latin typeface="Malgun Gothic"/>
                <a:ea typeface="Malgun Gothic"/>
              </a:rPr>
              <a:t>kafka-admin · 프로젝트 안내서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2B"/>
                </a:solidFill>
                <a:latin typeface="Malgun Gothic"/>
                <a:ea typeface="Malgun Gothic"/>
              </a:rPr>
              <a:t>화면 흐름 시뮬레이터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42B"/>
                </a:solidFill>
                <a:latin typeface="Malgun Gothic"/>
                <a:ea typeface="Malgun Gothic"/>
              </a:rPr>
              <a:t>실제 화면 구성을 예시 데이터로 재현한 안내. </a:t>
            </a:r>
            <a:r>
              <a:rPr sz="1500" b="0">
                <a:solidFill>
                  <a:srgbClr val="5A6870"/>
                </a:solidFill>
                <a:latin typeface="Malgun Gothic"/>
                <a:ea typeface="Malgun Gothic"/>
              </a:rPr>
              <a:t>이 자료의 토픽명·오프셋·알림은 시연용이며 실제 클러스터 값이 아니다.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346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6870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9384" y="32918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5A6870"/>
                </a:solidFill>
                <a:latin typeface="Malgun Gothic"/>
              </a:rPr>
              <a:t>클러스터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346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6870"/>
                </a:solidFill>
                <a:latin typeface="Malgun Gothic"/>
                <a:ea typeface="Malgun Gothic"/>
              </a:rPr>
              <a:t>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3291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5A6870"/>
                </a:solidFill>
                <a:latin typeface="Malgun Gothic"/>
              </a:rPr>
              <a:t>토픽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346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6870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32918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5A6870"/>
                </a:solidFill>
                <a:latin typeface="Malgun Gothic"/>
              </a:rPr>
              <a:t>토픽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3346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6870"/>
                </a:solidFill>
                <a:latin typeface="Malgun Gothic"/>
                <a:ea typeface="Malgun Gothic"/>
              </a:rPr>
              <a:t>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3291840"/>
            <a:ext cx="1499616" cy="38404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5A6870"/>
                </a:solidFill>
                <a:latin typeface="Malgun Gothic"/>
              </a:rPr>
              <a:t>컨슈머 그룹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3346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6870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2918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5A6870"/>
                </a:solidFill>
                <a:latin typeface="Malgun Gothic"/>
              </a:rPr>
              <a:t>그룹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3346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6870"/>
                </a:solidFill>
                <a:latin typeface="Malgun Gothic"/>
                <a:ea typeface="Malgun Gothic"/>
              </a:rPr>
              <a:t>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49256" y="3291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5A6870"/>
                </a:solidFill>
                <a:latin typeface="Malgun Gothic"/>
              </a:rPr>
              <a:t>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9966960" cy="921715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224528"/>
            <a:ext cx="9637776" cy="7388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미로그인 상태로 어느 경로에 들어와도 라우터 가드가 /login으로 보낸다. 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로그인 후에는 상단 메뉴로 자유 이동.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역할을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DEVELOPER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로 바꾸면 조치 버튼이 화면에서 사라진다 — 마지막 슬라이드 참고.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3노드 KRaft 클러스터(SASL_SSL) 관리자 사이트 · docs/guide.html 시뮬레이터 발췌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로그인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737360"/>
            <a:ext cx="41148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965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242B"/>
                </a:solidFill>
                <a:latin typeface="Malgun Gothic"/>
                <a:ea typeface="Malgun Gothic"/>
              </a:rPr>
              <a:t>kafka-admin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아이디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52344"/>
            <a:ext cx="32918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200">
                <a:solidFill>
                  <a:srgbClr val="1B242B"/>
                </a:solidFill>
                <a:latin typeface="Consolas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227832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비밀번호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465576"/>
            <a:ext cx="32918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200">
                <a:solidFill>
                  <a:srgbClr val="1B242B"/>
                </a:solidFill>
                <a:latin typeface="Consolas"/>
              </a:rPr>
              <a:t>********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023360"/>
            <a:ext cx="3291840" cy="384048"/>
          </a:xfrm>
          <a:prstGeom prst="roundRect">
            <a:avLst>
              <a:gd name="adj" fmla="val 25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로그인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5029200"/>
            <a:ext cx="5943600" cy="588873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5138928"/>
            <a:ext cx="5614416" cy="405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최초 기동 시 사용자가 0명이면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admin 계정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이 $ADMIN_INITIAL_PASSWORD 값으로 자동 생성된다.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98932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Spring Security 세션 방식 · ADMIN / DEVELOPER 역할 분리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클러스터 — 브로커 · 감시 상태 · 인증서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Cluster ID: </a:t>
            </a:r>
            <a:r>
              <a:rPr sz="1100" b="0">
                <a:solidFill>
                  <a:srgbClr val="5A6870"/>
                </a:solidFill>
                <a:latin typeface="Consolas"/>
                <a:ea typeface="Consolas"/>
              </a:rPr>
              <a:t>MkU3OEVBNTcwNTJENDM2Qk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530352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8560"/>
                <a:gridCol w="2357120"/>
                <a:gridCol w="17678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브로커 ID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주소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kafka1:9094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8A50"/>
                          </a:solidFill>
                          <a:latin typeface="Malgun Gothic"/>
                        </a:rPr>
                        <a:t>컨트롤러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kafka2:9094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kafka3:9094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0175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A6870"/>
                </a:solidFill>
                <a:latin typeface="Malgun Gothic"/>
                <a:ea typeface="Malgun Gothic"/>
              </a:rPr>
              <a:t>감시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마지막 수집: 오늘 14:32:00 · 연속 실패 0회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600200"/>
          <a:ext cx="5303519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6817"/>
                <a:gridCol w="1692612"/>
                <a:gridCol w="135409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브로커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인증서 만료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남은 일수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kafka1:9094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2027-02-11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D-186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kafka2:9094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2027-02-11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D-186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kafka3:9094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2026-09-02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C3A3A"/>
                          </a:solidFill>
                          <a:latin typeface="Consolas"/>
                        </a:rPr>
                        <a:t>D-24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023360"/>
            <a:ext cx="11091672" cy="921715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133088"/>
            <a:ext cx="10762488" cy="7388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브로커 3대가 다 보이는지, 컨트롤러가 누구인지 확인.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브로커 무응답 시에도 사이트는 동작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하고 503 "브로커 접속 불가"로 표시한다.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인증서는 매일 점검해 만료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D-30 이내면 경고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 — kafka3이 D-24로 알림 대상이다. 기성 도구가 못 하는 대표 기능.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클러스터 — 디스크 사용량과 추이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12064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브로커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사용률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42.5%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57.8%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C3A3A"/>
                          </a:solidFill>
                          <a:latin typeface="Malgun Gothic"/>
                        </a:rPr>
                        <a:t>81.3%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0" y="1755648"/>
            <a:ext cx="2377440" cy="10972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755648"/>
            <a:ext cx="1010412" cy="109728"/>
          </a:xfrm>
          <a:prstGeom prst="roundRect">
            <a:avLst>
              <a:gd name="adj" fmla="val 50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2048256"/>
            <a:ext cx="2377440" cy="10972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048256"/>
            <a:ext cx="1374160" cy="109728"/>
          </a:xfrm>
          <a:prstGeom prst="roundRect">
            <a:avLst>
              <a:gd name="adj" fmla="val 50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2340864"/>
            <a:ext cx="2377440" cy="109728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2340864"/>
            <a:ext cx="1932858" cy="109728"/>
          </a:xfrm>
          <a:prstGeom prst="roundRect">
            <a:avLst>
              <a:gd name="adj" fmla="val 50000"/>
            </a:avLst>
          </a:prstGeom>
          <a:solidFill>
            <a:srgbClr val="B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임계치 80% 초과 시 알림(DISK_HIGH)이 발생한다. 브로커 3처럼 급증했다면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retention 축소(3단계 조치)가 응급 대응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021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미복제 파티션(URP) 추이 — 24시간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59536" y="4105656"/>
            <a:ext cx="4489704" cy="786384"/>
          </a:xfrm>
          <a:custGeom>
            <a:avLst/>
            <a:gdLst/>
            <a:ahLst/>
            <a:cxnLst/>
            <a:rect l="l" t="t" r="r" b="b"/>
            <a:pathLst>
              <a:path w="491" h="86">
                <a:moveTo>
                  <a:pt x="0" y="86"/>
                </a:moveTo>
                <a:lnTo>
                  <a:pt x="350" y="86"/>
                </a:lnTo>
                <a:lnTo>
                  <a:pt x="368" y="0"/>
                </a:lnTo>
                <a:lnTo>
                  <a:pt x="491" y="0"/>
                </a:lnTo>
              </a:path>
            </a:pathLst>
          </a:custGeom>
          <a:noFill/>
          <a:ln w="2540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959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C3A3A"/>
                </a:solidFill>
                <a:latin typeface="Consolas"/>
                <a:ea typeface="Consolas"/>
              </a:rPr>
              <a:t>현재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021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디스크 사용률 추이 — 브로커 3, 24시간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94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620256" y="4215384"/>
            <a:ext cx="4489704" cy="182880"/>
          </a:xfrm>
          <a:custGeom>
            <a:avLst/>
            <a:gdLst/>
            <a:ahLst/>
            <a:cxnLst/>
            <a:rect l="l" t="t" r="r" b="b"/>
            <a:pathLst>
              <a:path w="491" h="20">
                <a:moveTo>
                  <a:pt x="0" y="20"/>
                </a:moveTo>
                <a:lnTo>
                  <a:pt x="123" y="15"/>
                </a:lnTo>
                <a:lnTo>
                  <a:pt x="246" y="8"/>
                </a:lnTo>
                <a:lnTo>
                  <a:pt x="368" y="4"/>
                </a:lnTo>
                <a:lnTo>
                  <a:pt x="491" y="0"/>
                </a:lnTo>
              </a:path>
            </a:pathLst>
          </a:custGeom>
          <a:noFill/>
          <a:ln w="2540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92240" y="4230093"/>
            <a:ext cx="4754880" cy="0"/>
          </a:xfrm>
          <a:prstGeom prst="line">
            <a:avLst/>
          </a:prstGeom>
          <a:ln w="12700">
            <a:solidFill>
              <a:srgbClr val="BC3A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37960" y="3974061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BC3A3A"/>
                </a:solidFill>
                <a:latin typeface="Consolas"/>
                <a:ea typeface="Consolas"/>
              </a:rPr>
              <a:t>임계 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408736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870"/>
                </a:solidFill>
                <a:latin typeface="Consolas"/>
                <a:ea typeface="Consolas"/>
              </a:rPr>
              <a:t>81.3%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23560"/>
            <a:ext cx="11091672" cy="826617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33288"/>
            <a:ext cx="10762488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URP가 0에서 1이 된 시점과 파티션 2의 ISR 이탈이 같은 사건이다 — 추이 차트는 "언제부터"를 알려준다. </a:t>
            </a:r>
            <a:r>
              <a:rPr sz="1050" b="0">
                <a:solidFill>
                  <a:srgbClr val="5A6870"/>
                </a:solidFill>
                <a:latin typeface="Malgun Gothic"/>
                <a:ea typeface="Malgun Gothic"/>
              </a:rPr>
              <a:t>(URP는 이력으로만 수집되며 증감 알림은 이후 단계)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토픽 목록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https://kafka-admin.internal/topics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77724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7750"/>
                <a:gridCol w="1457325"/>
                <a:gridCol w="145732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파티션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복제 팩터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payment-events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shipment-events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audit-log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749039"/>
            <a:ext cx="7772400" cy="588873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858767"/>
            <a:ext cx="7443216" cy="405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행을 클릭하면 상세 화면으로 이동한다.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모든 토픽이 복제 팩터 3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 — 3노드 표준 관례(RF=3 + min.insync.replicas=2 + acks=all).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토픽 상세 — 파티션 / ISR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https://kafka-admin.internal/topics/order-events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토픽: </a:t>
            </a:r>
            <a:r>
              <a:rPr sz="1200" b="1">
                <a:solidFill>
                  <a:srgbClr val="1B242B"/>
                </a:solidFill>
                <a:latin typeface="Consolas"/>
                <a:ea typeface="Consolas"/>
              </a:rPr>
              <a:t>order-events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   파티션 12 · 복제 팩터 3 · </a:t>
            </a:r>
            <a:r>
              <a:rPr sz="1200" b="0">
                <a:solidFill>
                  <a:srgbClr val="5A6870"/>
                </a:solidFill>
                <a:latin typeface="Consolas"/>
                <a:ea typeface="Consolas"/>
              </a:rPr>
              <a:t>retention.ms=604800000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 (7일)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87782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97280"/>
                <a:gridCol w="2011680"/>
                <a:gridCol w="2011680"/>
                <a:gridCol w="2377440"/>
              </a:tblGrid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파티션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리더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레플리카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ISR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최신 오프셋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1, 2, 3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1, 2, 3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1,204,331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2, 3, 1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2, 3, 1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1,198,442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3, 1, 2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C3A3A"/>
                          </a:solidFill>
                          <a:latin typeface="Consolas"/>
                        </a:rPr>
                        <a:t>3, 1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1,201,976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1, 3, 2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1, 3, 2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1,199,850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566160"/>
            <a:ext cx="8778240" cy="921715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675888"/>
            <a:ext cx="8449056" cy="7388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파티션 2는 ISR에서 브로커 2가 빠져 있다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 — URP 지표로 수집되어 클러스터 화면의 추이 차트에 남는다.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ISR = 리더 포함, 동기화가 살아 있는 레플리카 명단. 장애 시 새 리더는 ISR 안에서만 선출된다.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8778240" cy="658368"/>
          </a:xfrm>
          <a:prstGeom prst="roundRect">
            <a:avLst>
              <a:gd name="adj" fmla="val 12000"/>
            </a:avLst>
          </a:prstGeom>
          <a:solidFill>
            <a:srgbClr val="F7EDDA"/>
          </a:solidFill>
          <a:ln w="9525">
            <a:solidFill>
              <a:srgbClr val="A66A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18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A66A0E"/>
                </a:solidFill>
                <a:latin typeface="Malgun Gothic"/>
                <a:ea typeface="Malgun Gothic"/>
              </a:rPr>
              <a:t>3단계 예정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5266944"/>
            <a:ext cx="19659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5A6870"/>
                </a:solidFill>
                <a:latin typeface="Malgun Gothic"/>
              </a:rPr>
              <a:t>retention 변경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5266944"/>
            <a:ext cx="19659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5A6870"/>
                </a:solidFill>
                <a:latin typeface="Malgun Gothic"/>
              </a:rPr>
              <a:t>파티션 증가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266944"/>
            <a:ext cx="19659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5A6870"/>
                </a:solidFill>
                <a:latin typeface="Malgun Gothic"/>
              </a:rPr>
              <a:t>preferred 리더 선출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870"/>
                </a:solidFill>
                <a:latin typeface="Malgun Gothic"/>
                <a:ea typeface="Malgun Gothic"/>
              </a:rPr>
              <a:t>ADMIN에게만 보이는 조치 영역 — DEVELOPER 역할에는 표시되지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토픽 상세 — 최근 메시지와 순서 보장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https://kafka-admin.internal/topics/order-events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최신순, 그룹 없이 읽어(assign+seek) 기존 컨슈머에 영향 없음 · 값은 1,000자까지 표시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1669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2814"/>
                <a:gridCol w="1000068"/>
                <a:gridCol w="1454645"/>
                <a:gridCol w="1727391"/>
                <a:gridCol w="56367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A6870"/>
                          </a:solidFill>
                          <a:latin typeface="Malgun Gothic"/>
                        </a:rPr>
                        <a:t>시각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5A6870"/>
                          </a:solidFill>
                          <a:latin typeface="Malgun Gothic"/>
                        </a:rPr>
                        <a:t>파티션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5A6870"/>
                          </a:solidFill>
                          <a:latin typeface="Malgun Gothic"/>
                        </a:rPr>
                        <a:t>오프셋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A6870"/>
                          </a:solidFill>
                          <a:latin typeface="Malgun Gothic"/>
                        </a:rPr>
                        <a:t>키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A6870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Malgun Gothic"/>
                        </a:rPr>
                        <a:t>14:32:05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42B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1,204,330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ORD-8F2A1C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{"type":"ORDER_COMPLETED","orderId":"ORD-8F2A1C",…}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Malgun Gothic"/>
                        </a:rPr>
                        <a:t>14:32:04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42B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1,204,329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ORD-8F2A1C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{"type":"ORDER_CREATED","orderId":"ORD-8F2A1C",…}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Malgun Gothic"/>
                        </a:rPr>
                        <a:t>14:32:01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42B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1,201,975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ORD-3B9D07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42B"/>
                          </a:solidFill>
                          <a:latin typeface="Consolas"/>
                        </a:rPr>
                        <a:t>{"type":"ORDER_CREATED","orderId":"ORD-3B9D07",…}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00400"/>
            <a:ext cx="11091672" cy="2377440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1076248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오프셋은 파티션 안의 일련번호(주소)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라 파티션이 다르면 겹칠 수 있다.</a:t>
            </a:r>
          </a:p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순서 보장은 파티션 안에서만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 성립한다 — 같은 키 ORD-8F2A1C의 CREATED(1,204,329) → COMPLETED(1,204,330)가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같은 파티션 0에 순서대로 쌓인 것이 그 실례다. 같은 키는 항상 같은 파티션으로 가므로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"주문 하나 안의 순서"는 키만으로 보장되고, 다른 키(ORD-3B9D07, 파티션 2)와의 선후는 정의되지 않는다.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단, 파티션을 늘리면 키→파티션 매핑이 바뀌어 이 보장이 잠시 흔들린다 — 3단계 "파티션 증가" 조치에 경고를 붙이는 이유다.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컨슈머 그룹 목록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https://kafka-admin.internal/groups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77724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그룹 ID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총 랙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order-settlement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8A50"/>
                          </a:solidFill>
                          <a:latin typeface="Malgun Gothic"/>
                        </a:rPr>
                        <a:t>Stable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C3A3A"/>
                          </a:solidFill>
                          <a:latin typeface="Malgun Gothic"/>
                        </a:rPr>
                        <a:t>1,284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order-statistics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8A50"/>
                          </a:solidFill>
                          <a:latin typeface="Malgun Gothic"/>
                        </a:rPr>
                        <a:t>Stable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shipment-tracker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8A50"/>
                          </a:solidFill>
                          <a:latin typeface="Malgun Gothic"/>
                        </a:rPr>
                        <a:t>Stable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C"/>
                          </a:solidFill>
                          <a:latin typeface="Consolas"/>
                        </a:rPr>
                        <a:t>payment-recon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66A0E"/>
                          </a:solidFill>
                          <a:latin typeface="Malgun Gothic"/>
                        </a:rPr>
                        <a:t>Empty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342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794760"/>
            <a:ext cx="11091672" cy="1554480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904488"/>
            <a:ext cx="10762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order-settlement(정산)과 order-statistics(통계)는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같은 order-events 토픽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을 서로 다른 그룹 ID로 각자 전부 소비한다(팬아웃).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그룹마다 커밋 오프셋(책갈피)이 따로라서 정산이 랙 1,284로 밀려도 통계는 영향이 없다.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반대로 다른 앱이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같은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 그룹 ID를 쓰면 메시지가 앱들 사이에 쪼개지는 사고가 되므로, 그룹 ID는 서비스 이름 기준으로 짓는다.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그룹 상세 — 멤버와 담당 파티션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https://kafka-admin.internal/groups/order-settlement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그룹: </a:t>
            </a:r>
            <a:r>
              <a:rPr sz="1200" b="1">
                <a:solidFill>
                  <a:srgbClr val="1B242B"/>
                </a:solidFill>
                <a:latin typeface="Consolas"/>
                <a:ea typeface="Consolas"/>
              </a:rPr>
              <a:t>order-settlement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   상태: Stable · 총 랙: </a:t>
            </a: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1,284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A6870"/>
                </a:solidFill>
                <a:latin typeface="Malgun Gothic"/>
                <a:ea typeface="Malgun Gothic"/>
              </a:rPr>
              <a:t>멤버 (2) — 개별 컨슈머 인스턴스와 담당 파티션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9326879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5669"/>
                <a:gridCol w="1907770"/>
                <a:gridCol w="46634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클라이언트 ID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호스트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담당 파티션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settlement-app-1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/10.0.2.11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order-events-0, order-events-1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settlement-app-2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/10.0.2.12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order-events-2, order-events-3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291840"/>
            <a:ext cx="11091672" cy="2331720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401568"/>
            <a:ext cx="1076248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멤버별 담당은 0,1 / 2,3으로 나뉘지만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합치면 파티션 4개 전부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다 — "전부 받는" 주체는 개별 인스턴스가 아니라 그룹(앱 전체)이고, 나눠 받는 것이 곧 병렬 처리다.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문제 신호는 담당이 나뉜 것이 아니라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어느 멤버의 담당에도 없는 파티션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이 생기는 것.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멤버는 일시적 존재라 재시작·리밸런스마다 바뀌며, 커밋 오프셋(책갈피)의 주인은 멤버가 아니라 그룹이다.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특정 파티션만 랙이 쌓이면 이 표에서 그 파티션을 잡은 인스턴스를 바로 찾을 수 있고,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클라이언트 ID·호스트 패턴이 다른 멤버가 섞여 있다면 그룹 ID 충돌(다른 앱이 같은 그룹 ID)을 의심한다.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그룹 상세 — 랙 추이와 파티션별 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https://kafka-admin.internal/groups/order-settlement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A6870"/>
                </a:solidFill>
                <a:latin typeface="Malgun Gothic"/>
                <a:ea typeface="Malgun Gothic"/>
              </a:rPr>
              <a:t>최근 24시간 랙 추이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60120" y="1828800"/>
            <a:ext cx="10259568" cy="1024128"/>
          </a:xfrm>
          <a:custGeom>
            <a:avLst/>
            <a:gdLst/>
            <a:ahLst/>
            <a:cxnLst/>
            <a:rect l="l" t="t" r="r" b="b"/>
            <a:pathLst>
              <a:path w="1122" h="112">
                <a:moveTo>
                  <a:pt x="0" y="92"/>
                </a:moveTo>
                <a:lnTo>
                  <a:pt x="49" y="91"/>
                </a:lnTo>
                <a:lnTo>
                  <a:pt x="97" y="86"/>
                </a:lnTo>
                <a:lnTo>
                  <a:pt x="146" y="72"/>
                </a:lnTo>
                <a:lnTo>
                  <a:pt x="195" y="43"/>
                </a:lnTo>
                <a:lnTo>
                  <a:pt x="244" y="0"/>
                </a:lnTo>
                <a:lnTo>
                  <a:pt x="293" y="6"/>
                </a:lnTo>
                <a:lnTo>
                  <a:pt x="341" y="29"/>
                </a:lnTo>
                <a:lnTo>
                  <a:pt x="390" y="51"/>
                </a:lnTo>
                <a:lnTo>
                  <a:pt x="439" y="70"/>
                </a:lnTo>
                <a:lnTo>
                  <a:pt x="488" y="83"/>
                </a:lnTo>
                <a:lnTo>
                  <a:pt x="537" y="91"/>
                </a:lnTo>
                <a:lnTo>
                  <a:pt x="585" y="98"/>
                </a:lnTo>
                <a:lnTo>
                  <a:pt x="634" y="103"/>
                </a:lnTo>
                <a:lnTo>
                  <a:pt x="683" y="106"/>
                </a:lnTo>
                <a:lnTo>
                  <a:pt x="732" y="108"/>
                </a:lnTo>
                <a:lnTo>
                  <a:pt x="781" y="109"/>
                </a:lnTo>
                <a:lnTo>
                  <a:pt x="829" y="109"/>
                </a:lnTo>
                <a:lnTo>
                  <a:pt x="878" y="111"/>
                </a:lnTo>
                <a:lnTo>
                  <a:pt x="927" y="111"/>
                </a:lnTo>
                <a:lnTo>
                  <a:pt x="976" y="111"/>
                </a:lnTo>
                <a:lnTo>
                  <a:pt x="1025" y="112"/>
                </a:lnTo>
                <a:lnTo>
                  <a:pt x="1073" y="112"/>
                </a:lnTo>
                <a:lnTo>
                  <a:pt x="1122" y="112"/>
                </a:lnTo>
              </a:path>
            </a:pathLst>
          </a:custGeom>
          <a:noFill/>
          <a:ln w="2540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77240" y="2514322"/>
            <a:ext cx="10634472" cy="0"/>
          </a:xfrm>
          <a:prstGeom prst="line">
            <a:avLst/>
          </a:prstGeom>
          <a:ln w="12700">
            <a:solidFill>
              <a:srgbClr val="BC3A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25829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BC3A3A"/>
                </a:solidFill>
                <a:latin typeface="Consolas"/>
                <a:ea typeface="Consolas"/>
              </a:rPr>
              <a:t>임계 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7335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870"/>
                </a:solidFill>
                <a:latin typeface="Consolas"/>
                <a:ea typeface="Consolas"/>
              </a:rPr>
              <a:t>최고 12,400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88752" y="258082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870"/>
                </a:solidFill>
                <a:latin typeface="Consolas"/>
                <a:ea typeface="Consolas"/>
              </a:rPr>
              <a:t>1,284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14시경 임계치(5,000)를 넘어 알림이 발생했고, 컨슈머 재기동 후 해소 중이다. 이 이력이 알림 화면에 남는다.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977639"/>
          <a:ext cx="8961117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2490"/>
                <a:gridCol w="1168841"/>
                <a:gridCol w="1948069"/>
                <a:gridCol w="1948069"/>
                <a:gridCol w="136364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토픽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파티션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커밋 오프셋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최신 오프셋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랙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1,203,910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1,204,331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C3A3A"/>
                          </a:solidFill>
                          <a:latin typeface="Consolas"/>
                        </a:rPr>
                        <a:t>421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1,198,442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1,198,442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1,201,463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1,201,976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C3A3A"/>
                          </a:solidFill>
                          <a:latin typeface="Consolas"/>
                        </a:rPr>
                        <a:t>513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1,199,500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1,199,850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C3A3A"/>
                          </a:solidFill>
                          <a:latin typeface="Consolas"/>
                        </a:rPr>
                        <a:t>350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Consolas"/>
                <a:ea typeface="Consolas"/>
              </a:rPr>
              <a:t>랙 = 최신 오프셋 − 커밋 오프셋 (파티션별로 계산해 합산)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그룹 상세 — 소비량과 소비 내역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https://kafka-admin.internal/groups/order-settlement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870"/>
                </a:solidFill>
                <a:latin typeface="Malgun Gothic"/>
                <a:ea typeface="Malgun Gothic"/>
              </a:rPr>
              <a:t>시간대별 소비량 — 커밋 오프셋 증가분(=소비한 메시지 수)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4937759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1577"/>
                <a:gridCol w="2116182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시간대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소비 건수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8/9 14:00~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B242B"/>
                          </a:solidFill>
                          <a:latin typeface="Consolas"/>
                        </a:rPr>
                        <a:t>21,480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8/9 13:00~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9,320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8/9 12:00~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8,910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2801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870"/>
                </a:solidFill>
                <a:latin typeface="Malgun Gothic"/>
                <a:ea typeface="Malgun Gothic"/>
              </a:rPr>
              <a:t>최근 소비 내역 — 언제 어느 토픽에서 몇 건 (60초 수집 단위)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645920"/>
          <a:ext cx="5120639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590"/>
                <a:gridCol w="2295459"/>
                <a:gridCol w="141259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시각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토픽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870"/>
                          </a:solidFill>
                          <a:latin typeface="Malgun Gothic"/>
                        </a:rPr>
                        <a:t>가져온 건수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14:32:00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342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14:31:00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415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Malgun Gothic"/>
                        </a:rPr>
                        <a:t>14:30:00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order-events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42B"/>
                          </a:solidFill>
                          <a:latin typeface="Consolas"/>
                        </a:rPr>
                        <a:t>388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474720"/>
            <a:ext cx="11091672" cy="1234440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584448"/>
            <a:ext cx="1076248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14시 소비량이 평소의 두 배가 넘는다 —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컨슈머 재기동 후 밀린 랙 12,400을 따라잡는 중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이라는 뜻이고, 랙 추이 차트가 내려가는 것과 같은 사건이다.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건수는 모두 커밋 오프셋의 차이로 계산된다. (트랜잭션 마커·압축 때문에 1~2건 오차가 있을 수 있는 근사치)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8229600" cy="640080"/>
          </a:xfrm>
          <a:prstGeom prst="roundRect">
            <a:avLst>
              <a:gd name="adj" fmla="val 12000"/>
            </a:avLst>
          </a:prstGeom>
          <a:solidFill>
            <a:srgbClr val="F7EDDA"/>
          </a:solidFill>
          <a:ln w="9525">
            <a:solidFill>
              <a:srgbClr val="A66A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2122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A66A0E"/>
                </a:solidFill>
                <a:latin typeface="Malgun Gothic"/>
                <a:ea typeface="Malgun Gothic"/>
              </a:rPr>
              <a:t>3단계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51663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B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오프셋 리셋…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2212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870"/>
                </a:solidFill>
                <a:latin typeface="Malgun Gothic"/>
                <a:ea typeface="Malgun Gothic"/>
              </a:rPr>
              <a:t>확인 절차 UX 미리보기 — 다음 슬라이드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랙(Lag) 이해하기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71600"/>
            <a:ext cx="612648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870"/>
                </a:solidFill>
                <a:latin typeface="Malgun Gothic"/>
                <a:ea typeface="Malgun Gothic"/>
              </a:rPr>
              <a:t>랙은 </a:t>
            </a:r>
            <a:r>
              <a:rPr sz="1300" b="1">
                <a:solidFill>
                  <a:srgbClr val="1B242B"/>
                </a:solidFill>
                <a:latin typeface="Malgun Gothic"/>
                <a:ea typeface="Malgun Gothic"/>
              </a:rPr>
              <a:t>컨슈머가 아직 읽지 못하고 밀려 있는 메시지 수</a:t>
            </a:r>
            <a:r>
              <a:rPr sz="1300" b="0">
                <a:solidFill>
                  <a:srgbClr val="5A6870"/>
                </a:solidFill>
                <a:latin typeface="Malgun Gothic"/>
                <a:ea typeface="Malgun Gothic"/>
              </a:rPr>
              <a:t>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14884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300" b="1">
                <a:solidFill>
                  <a:srgbClr val="1B242B"/>
                </a:solidFill>
                <a:latin typeface="Consolas"/>
              </a:rPr>
              <a:t>랙 = 최신 오프셋 − 커밋 오프셋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8346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7C8C"/>
                </a:solidFill>
                <a:latin typeface="Malgun Gothic"/>
                <a:ea typeface="Malgun Gothic"/>
              </a:rPr>
              <a:t>•  </a:t>
            </a: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0 또는 일정 유지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 — 정상. 소비가 생산을 따라잡는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18688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7C8C"/>
                </a:solidFill>
                <a:latin typeface="Malgun Gothic"/>
                <a:ea typeface="Malgun Gothic"/>
              </a:rPr>
              <a:t>•  </a:t>
            </a: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계속 증가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 — 컨슈머 장애·처리 지연·트래픽 급증 신호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02736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7C8C"/>
                </a:solidFill>
                <a:latin typeface="Malgun Gothic"/>
                <a:ea typeface="Malgun Gothic"/>
              </a:rPr>
              <a:t>•  </a:t>
            </a: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특정 파티션만 증가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 — 핫 파티션 또는 포이즌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160520"/>
            <a:ext cx="5394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해결은 컨슈머 애플리케이션의 몫이다: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① 다운스트림 배치화 등 처리 최적화   ② 컨슈머 스케일 아웃(파티션 수 한도)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③ 리밸런스·설정 튜닝   ④ 키 재설계·DLQ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이 사이트는 감지·진단까지만 담당한다.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오프셋 리셋 — 실행 전 확인 절차 (3단계 UX)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280160"/>
            <a:ext cx="61264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160020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대상 그룹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1B242B"/>
                </a:solidFill>
                <a:latin typeface="Consolas"/>
                <a:ea typeface="Consolas"/>
              </a:rPr>
              <a:t>order-settlement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848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대상 토픽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8483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1B242B"/>
                </a:solidFill>
                <a:latin typeface="Consolas"/>
                <a:ea typeface="Consolas"/>
              </a:rPr>
              <a:t>order-events (파티션 4개)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3230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리셋 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43230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1B242B"/>
                </a:solidFill>
                <a:latin typeface="Consolas"/>
                <a:ea typeface="Consolas"/>
              </a:rPr>
              <a:t>latest (최신 오프셋)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797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예상 영향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7977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1B242B"/>
                </a:solidFill>
                <a:latin typeface="Consolas"/>
                <a:ea typeface="Consolas"/>
              </a:rPr>
              <a:t>미소비 메시지 1,284건 건너뜀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83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C3A3A"/>
                </a:solidFill>
                <a:latin typeface="Malgun Gothic"/>
                <a:ea typeface="Malgun Gothic"/>
              </a:rPr>
              <a:t>그룹이 활성 상태면 실행할 수 없다 — 컨슈머를 먼저 중지해야 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947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870"/>
                </a:solidFill>
                <a:latin typeface="Malgun Gothic"/>
                <a:ea typeface="Malgun Gothic"/>
              </a:rPr>
              <a:t>계속하려면 그룹 ID를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069080"/>
            <a:ext cx="53949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>
                <a:solidFill>
                  <a:srgbClr val="1B242B"/>
                </a:solidFill>
                <a:latin typeface="Consolas"/>
              </a:rPr>
              <a:t>order-settlement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572000"/>
            <a:ext cx="5394960" cy="384048"/>
          </a:xfrm>
          <a:prstGeom prst="roundRect">
            <a:avLst>
              <a:gd name="adj" fmla="val 20000"/>
            </a:avLst>
          </a:prstGeom>
          <a:solidFill>
            <a:srgbClr val="E3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100" b="1">
                <a:solidFill>
                  <a:srgbClr val="1B8A50"/>
                </a:solidFill>
                <a:latin typeface="Malgun Gothic"/>
              </a:rPr>
              <a:t>실행 완료 — 감사 로그 #128 기록 (actor: admin, action: OFFSET_RESET)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16636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B242B"/>
                </a:solidFill>
                <a:latin typeface="Malgun Gothic"/>
              </a:rPr>
              <a:t>취소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516636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B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26364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영향 요약 → 그룹 ID 직접 입력 확인 → 실행 → 감사 로그(누가·언제·무엇을·결과) — 모든 위험 조치의 공통 절차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알림 이력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603504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>
                <a:solidFill>
                  <a:srgbClr val="5A6870"/>
                </a:solidFill>
                <a:latin typeface="Consolas"/>
              </a:rPr>
              <a:t>https://kafka-admin.internal/alerts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임계치 초과·수집 실패·인증서 임박이 30분 쿨다운으로 기록된다. 발송 채널(웹훅) 연결은 3단계.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167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524"/>
                <a:gridCol w="2323969"/>
                <a:gridCol w="2323969"/>
                <a:gridCol w="4859208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시각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6870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91440" marR="91440" marT="27432" marB="27432" anchor="ctr">
                    <a:solidFill>
                      <a:srgbClr val="EDF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오늘 14:03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C3A3A"/>
                          </a:solidFill>
                          <a:latin typeface="Consolas"/>
                        </a:rPr>
                        <a:t>LAG_HIGH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order-settlement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랙 12,400 — 임계 5,000 초과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오늘 14:02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66A0E"/>
                          </a:solidFill>
                          <a:latin typeface="Consolas"/>
                        </a:rPr>
                        <a:t>DISK_HIGH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broker-3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디스크 사용률 81.3% — 임계 80% 초과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오늘 03:00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66A0E"/>
                          </a:solidFill>
                          <a:latin typeface="Consolas"/>
                        </a:rPr>
                        <a:t>CERT_EXPIRY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kafka3:9094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인증서 만료 D-24 (임계 D-30)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어제 09:12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C3A3A"/>
                          </a:solidFill>
                          <a:latin typeface="Consolas"/>
                        </a:rPr>
                        <a:t>COLLECTOR_FAILURE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Consolas"/>
                        </a:rPr>
                        <a:t>collector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2B"/>
                          </a:solidFill>
                          <a:latin typeface="Malgun Gothic"/>
                        </a:rPr>
                        <a:t>지표 수집 3회 연속 실패 — 전면 장애 신호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977639"/>
            <a:ext cx="11091672" cy="1188720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087367"/>
            <a:ext cx="1076248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COLLECTOR_FAILURE(수집 3회 연속 실패)는 클러스터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전면 장애 신호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 — 브로커 상태를 최우선으로 확인한다.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URP·브로커 수는 지표 이력으로만 수집되며 알림은 발생하지 않는다 (증감 알림은 이후 단계).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8C"/>
                </a:solidFill>
                <a:latin typeface="Malgun Gothic"/>
                <a:ea typeface="Malgun Gothic"/>
              </a:rPr>
              <a:t>kafka-admin · 화면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242B"/>
                </a:solidFill>
                <a:latin typeface="Malgun Gothic"/>
                <a:ea typeface="Malgun Gothic"/>
              </a:rPr>
              <a:t>역할 전환 — ADMIN vs DEVELOPER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00" b="1">
                <a:solidFill>
                  <a:srgbClr val="0E7C8C"/>
                </a:solidFill>
                <a:latin typeface="Malgun Gothic"/>
              </a:rPr>
              <a:t>ADMIN — 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클러스터 모니터링, 장애 감지·알림 수신, </a:t>
            </a: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복구 조치 실행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까지 전 권한.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오프셋 리셋·설정 변경 같은 위험 작업은 ADMIN만 가능하다.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화면의 조치 영역(retention 변경·파티션 증가·오프셋 리셋 등)이 표시된다.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11112" y="1828800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00" b="1">
                <a:solidFill>
                  <a:srgbClr val="5A6870"/>
                </a:solidFill>
                <a:latin typeface="Malgun Gothic"/>
              </a:rPr>
              <a:t>DEVELOPER — 개발자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331720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토픽/컨슈머 그룹 </a:t>
            </a: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조회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와 토픽 생성 </a:t>
            </a: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신청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(4단계 예정)까지.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1B242B"/>
                </a:solidFill>
                <a:latin typeface="Malgun Gothic"/>
                <a:ea typeface="Malgun Gothic"/>
              </a:rPr>
              <a:t>조치 버튼은 화면에서 아예 보이지 않는다</a:t>
            </a: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 — 역할 전환 시 즉시 사라진다.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870"/>
                </a:solidFill>
                <a:latin typeface="Malgun Gothic"/>
                <a:ea typeface="Malgun Gothic"/>
              </a:rPr>
              <a:t>최근 메시지·소비 내역·랙 추이로 내 앱의 발행/소비 상태를 스스로 진단한다.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8000"/>
            </a:avLst>
          </a:prstGeom>
          <a:solidFill>
            <a:srgbClr val="E2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138928"/>
            <a:ext cx="107624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설계의 중심 규칙: </a:t>
            </a:r>
            <a:r>
              <a:rPr sz="1150" b="0">
                <a:solidFill>
                  <a:srgbClr val="5A6870"/>
                </a:solidFill>
                <a:latin typeface="Malgun Gothic"/>
                <a:ea typeface="Malgun Gothic"/>
              </a:rPr>
              <a:t>위험 작업은 반드시 ops 모듈 경유 · 실행 전 영향 요약 + 확인 절차, 실행 후 감사 로그 · </a:t>
            </a:r>
            <a:r>
              <a:rPr sz="1150" b="1">
                <a:solidFill>
                  <a:srgbClr val="1B242B"/>
                </a:solidFill>
                <a:latin typeface="Malgun Gothic"/>
                <a:ea typeface="Malgun Gothic"/>
              </a:rPr>
              <a:t>자동 복구 없음(감지 → 알림 → 사람 확인 → 실행)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